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-731520"/>
            <a:ext cx="5029200" cy="5029200"/>
          </a:xfrm>
          <a:prstGeom prst="ellipse">
            <a:avLst/>
          </a:prstGeom>
          <a:solidFill>
            <a:srgbClr val="13B5C7">
              <a:alpha val="12000"/>
            </a:srgbClr>
          </a:solidFill>
          <a:ln w="25400">
            <a:solidFill>
              <a:srgbClr val="13B5C7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82880"/>
            <a:ext cx="3200400" cy="3200400"/>
          </a:xfrm>
          <a:prstGeom prst="ellipse">
            <a:avLst/>
          </a:prstGeom>
          <a:solidFill>
            <a:srgbClr val="13B5C7">
              <a:alpha val="18000"/>
            </a:srgbClr>
          </a:solidFill>
          <a:ln w="12700">
            <a:solidFill>
              <a:srgbClr val="13B5C7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2377440" cy="320040"/>
          </a:xfrm>
          <a:prstGeom prst="rect">
            <a:avLst>
              <a:gd name="adj" fmla="val 14286"/>
            </a:avLst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TECHNICAL PRESENTATION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MeshChat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Application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32918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· MySQL · Socket.IO · React · WebRTC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91523"/>
          </a:solidFill>
          <a:ln w="12700">
            <a:solidFill>
              <a:srgbClr val="0915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B8"/>
                </a:solidFill>
              </a:rPr>
              <a:t>v1.0 · April 2025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4800600"/>
            <a:ext cx="3749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8B8"/>
                </a:solidFill>
              </a:rPr>
              <a:t>Computer Networks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 &amp; Our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4023360" cy="4114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Scalability: </a:t>
            </a:r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</a:rPr>
              <a:t>Single-server chat breaks under load — no horizontal scaling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31343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Fault Tolerance: </a:t>
            </a:r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</a:rPr>
              <a:t>If one node fails, the entire service goes down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93522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Real-Time Comms: </a:t>
            </a:r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</a:rPr>
              <a:t>WebRTC voice/video calling is hard to integrate correctly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55701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Offline Messages: </a:t>
            </a:r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</a:rPr>
              <a:t>Messages sent during disconnection are lost permanently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417880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Monitoring: </a:t>
            </a:r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</a:rPr>
              <a:t>No visibility into server health or load distribution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46320" y="11430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143000"/>
            <a:ext cx="4023360" cy="4114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43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OUR SOLUTION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1691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C896"/>
                </a:solidFill>
              </a:rPr>
              <a:t>✓ 3-Node Cluster: </a:t>
            </a:r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</a:rPr>
              <a:t>Three Express.js servers behind a smart weighted load balancer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0" y="231343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C896"/>
                </a:solidFill>
              </a:rPr>
              <a:t>✓ Auto-Failover: </a:t>
            </a:r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</a:rPr>
              <a:t>LB detects node failures and spawns backup processes instantly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0" y="293522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C896"/>
                </a:solidFill>
              </a:rPr>
              <a:t>✓ WebRTC Calls: </a:t>
            </a:r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</a:rPr>
              <a:t>Full P2P voice &amp; video via RTCPeerConnection + STUN + signaling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0" y="355701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C896"/>
                </a:solidFill>
              </a:rPr>
              <a:t>✓ Offline Queue: </a:t>
            </a:r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</a:rPr>
              <a:t>localStorage persistence with auto-flush on reconnect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0" y="417880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C896"/>
                </a:solidFill>
              </a:rPr>
              <a:t>✓ Live Dashboard: </a:t>
            </a:r>
            <a:pPr indent="0" marL="0">
              <a:buNone/>
            </a:pPr>
            <a:r>
              <a:rPr lang="en-US" sz="1150" dirty="0">
                <a:solidFill>
                  <a:srgbClr val="445566"/>
                </a:solidFill>
              </a:rPr>
              <a:t>Chart.js monitoring of CPU, memory &amp; load scores per node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8B8"/>
                </a:solidFill>
              </a:rPr>
              <a:t>Stack: Node.js · Express · MySQL (Railway) · Socket.IO · React · WebRTC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91523"/>
          </a:solidFill>
          <a:ln w="12700">
            <a:solidFill>
              <a:srgbClr val="0915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Implemented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4297680" cy="1143000"/>
          </a:xfrm>
          <a:prstGeom prst="rect">
            <a:avLst/>
          </a:prstGeom>
          <a:solidFill>
            <a:srgbClr val="1A2E40"/>
          </a:solidFill>
          <a:ln w="25400">
            <a:solidFill>
              <a:srgbClr val="0A7E8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43000"/>
            <a:ext cx="82296" cy="11430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234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Load Balancer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" y="157276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FDF"/>
                </a:solidFill>
              </a:rPr>
              <a:t>CPU (70%) + Memory (30%) scoring. Lowest-score node gets request.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297680" cy="1143000"/>
          </a:xfrm>
          <a:prstGeom prst="rect">
            <a:avLst/>
          </a:prstGeom>
          <a:solidFill>
            <a:srgbClr val="1A2E40"/>
          </a:solidFill>
          <a:ln w="25400">
            <a:solidFill>
              <a:srgbClr val="00C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43000"/>
            <a:ext cx="82296" cy="11430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234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 &amp; Failover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9472" y="157276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FDF"/>
                </a:solidFill>
              </a:rPr>
              <a:t>Heartbeat every 5s. Failed node triggers auto-spawn on port 6000+.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8600" y="2468880"/>
            <a:ext cx="4297680" cy="1143000"/>
          </a:xfrm>
          <a:prstGeom prst="rect">
            <a:avLst/>
          </a:prstGeom>
          <a:solidFill>
            <a:srgbClr val="1A2E40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468880"/>
            <a:ext cx="82296" cy="11430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25603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Voice &amp; Video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" y="289864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FDF"/>
                </a:solidFill>
              </a:rPr>
              <a:t>Full P2P calls: SDP offer/answer via Socket.IO + ICE candidates.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468880"/>
            <a:ext cx="4297680" cy="1143000"/>
          </a:xfrm>
          <a:prstGeom prst="rect">
            <a:avLst/>
          </a:prstGeom>
          <a:solidFill>
            <a:srgbClr val="1A2E40"/>
          </a:solidFill>
          <a:ln w="25400">
            <a:solidFill>
              <a:srgbClr val="FFD1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468880"/>
            <a:ext cx="82296" cy="11430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5603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Message Queue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19472" y="289864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FDF"/>
                </a:solidFill>
              </a:rPr>
              <a:t>localStorage saves undelivered messages; flushes on reconnect.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28600" y="3794760"/>
            <a:ext cx="4297680" cy="1143000"/>
          </a:xfrm>
          <a:prstGeom prst="rect">
            <a:avLst/>
          </a:prstGeom>
          <a:solidFill>
            <a:srgbClr val="1A2E40"/>
          </a:solidFill>
          <a:ln w="25400">
            <a:solidFill>
              <a:srgbClr val="FF7F7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794760"/>
            <a:ext cx="82296" cy="1143000"/>
          </a:xfrm>
          <a:prstGeom prst="rect">
            <a:avLst/>
          </a:prstGeom>
          <a:solidFill>
            <a:srgbClr val="FF7F7F"/>
          </a:solidFill>
          <a:ln w="12700">
            <a:solidFill>
              <a:srgbClr val="FF7F7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3886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 Dashboard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3192" y="422452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FDF"/>
                </a:solidFill>
              </a:rPr>
              <a:t>Chart.js dashboard with rolling 50-point score history per server.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3794760"/>
            <a:ext cx="4297680" cy="1143000"/>
          </a:xfrm>
          <a:prstGeom prst="rect">
            <a:avLst/>
          </a:prstGeom>
          <a:solidFill>
            <a:srgbClr val="1A2E40"/>
          </a:solidFill>
          <a:ln w="25400">
            <a:solidFill>
              <a:srgbClr val="C77D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794760"/>
            <a:ext cx="82296" cy="114300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886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Shared Database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19472" y="422452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FDF"/>
                </a:solidFill>
              </a:rPr>
              <a:t>Single source of truth for users &amp; messages with UTC timestamps.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Backend Architecture &amp; Working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011680" cy="6400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CLIENT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(React SPA)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1417320"/>
            <a:ext cx="640080" cy="0"/>
          </a:xfrm>
          <a:prstGeom prst="line">
            <a:avLst/>
          </a:prstGeom>
          <a:noFill/>
          <a:ln w="254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11887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8B8"/>
                </a:solidFill>
              </a:rPr>
              <a:t>HTTP / WS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926080" y="1005840"/>
            <a:ext cx="3108960" cy="822960"/>
          </a:xfrm>
          <a:prstGeom prst="rect">
            <a:avLst/>
          </a:prstGeom>
          <a:solidFill>
            <a:srgbClr val="0D1B2A"/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005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LOAD BALANCER (LB.js : 4000)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Auth · Routing · Signaling · Fault Detect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0" cy="50292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828800"/>
            <a:ext cx="0" cy="50292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0" y="1828800"/>
            <a:ext cx="0" cy="50292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7480" y="2331720"/>
            <a:ext cx="1005840" cy="685800"/>
          </a:xfrm>
          <a:prstGeom prst="rect">
            <a:avLst/>
          </a:prstGeom>
          <a:solidFill>
            <a:srgbClr val="1A2E40"/>
          </a:solidFill>
          <a:ln w="19050">
            <a:solidFill>
              <a:srgbClr val="13B5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233172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server.js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:5001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0" y="2331720"/>
            <a:ext cx="1005840" cy="685800"/>
          </a:xfrm>
          <a:prstGeom prst="rect">
            <a:avLst/>
          </a:prstGeom>
          <a:solidFill>
            <a:srgbClr val="1A2E40"/>
          </a:solidFill>
          <a:ln w="19050">
            <a:solidFill>
              <a:srgbClr val="13B5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233172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server.js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:5002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2331720"/>
            <a:ext cx="1005840" cy="685800"/>
          </a:xfrm>
          <a:prstGeom prst="rect">
            <a:avLst/>
          </a:prstGeom>
          <a:solidFill>
            <a:srgbClr val="1A2E40"/>
          </a:solidFill>
          <a:ln w="19050">
            <a:solidFill>
              <a:srgbClr val="13B5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33172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server.js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:5003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3017520"/>
            <a:ext cx="0" cy="365760"/>
          </a:xfrm>
          <a:prstGeom prst="line">
            <a:avLst/>
          </a:prstGeom>
          <a:noFill/>
          <a:ln w="19050">
            <a:solidFill>
              <a:srgbClr val="8FA8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43400" y="3017520"/>
            <a:ext cx="0" cy="365760"/>
          </a:xfrm>
          <a:prstGeom prst="line">
            <a:avLst/>
          </a:prstGeom>
          <a:noFill/>
          <a:ln w="19050">
            <a:solidFill>
              <a:srgbClr val="8FA8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0" y="3017520"/>
            <a:ext cx="0" cy="365760"/>
          </a:xfrm>
          <a:prstGeom prst="line">
            <a:avLst/>
          </a:prstGeom>
          <a:noFill/>
          <a:ln w="19050">
            <a:solidFill>
              <a:srgbClr val="8FA8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3383280"/>
            <a:ext cx="3200400" cy="640080"/>
          </a:xfrm>
          <a:prstGeom prst="rect">
            <a:avLst/>
          </a:prstGeom>
          <a:solidFill>
            <a:srgbClr val="1C3A52"/>
          </a:solidFill>
          <a:ln w="19050">
            <a:solidFill>
              <a:srgbClr val="8FA8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33832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FF4"/>
                </a:solidFill>
              </a:rPr>
              <a:t>MySQL on Railway (wechat DB)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FF4"/>
                </a:solidFill>
              </a:rPr>
              <a:t>shortline.proxy.rlwy.net : 49903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1005840"/>
            <a:ext cx="2468880" cy="685800"/>
          </a:xfrm>
          <a:prstGeom prst="rect">
            <a:avLst/>
          </a:prstGeom>
          <a:solidFill>
            <a:srgbClr val="1A3A2E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0058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C896"/>
                </a:solidFill>
              </a:rPr>
              <a:t>Dashboard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C896"/>
                </a:solidFill>
              </a:rPr>
              <a:t>serverstats.html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35040" y="1417320"/>
            <a:ext cx="365760" cy="0"/>
          </a:xfrm>
          <a:prstGeom prst="line">
            <a:avLst/>
          </a:prstGeom>
          <a:noFill/>
          <a:ln w="19050">
            <a:solidFill>
              <a:srgbClr val="00C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1188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8B8"/>
                </a:solidFill>
              </a:rPr>
              <a:t>/stats /status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" y="413308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Working Steps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74320" y="4425696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455"/>
                </a:solidFill>
              </a:rPr>
              <a:t>① Client queries /bs → LB returns lowest-score server URL  |  ② REST request to best server → App node queries MySQL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455"/>
                </a:solidFill>
              </a:rPr>
              <a:t>③ LB polls /metrics every 4s → recalculates weighted load scores  |  ④ LB pings /test every 5s → DOWN triggers backup on port 6000+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91523"/>
          </a:solidFill>
          <a:ln w="12700">
            <a:solidFill>
              <a:srgbClr val="0915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&amp;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206240" cy="1965960"/>
          </a:xfrm>
          <a:prstGeom prst="rect">
            <a:avLst/>
          </a:prstGeom>
          <a:solidFill>
            <a:srgbClr val="1A2E40"/>
          </a:solidFill>
          <a:ln w="19050">
            <a:solidFill>
              <a:srgbClr val="0A7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</a:rPr>
              <a:t>① Weighted Load Score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cpu × 0.7 + (1/memory) × 0.3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CFDF"/>
                </a:solidFill>
              </a:rPr>
              <a:t>• CPU weighted at 70% — primary bottleneck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CFDF"/>
                </a:solidFill>
              </a:rPr>
              <a:t>• Free memory weighted at 30%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CFDF"/>
                </a:solidFill>
              </a:rPr>
              <a:t>• Lowest score wins next request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CFDF"/>
                </a:solidFill>
              </a:rPr>
              <a:t>• Polled every 4 seconds from all nodes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4206240" cy="1965960"/>
          </a:xfrm>
          <a:prstGeom prst="rect">
            <a:avLst/>
          </a:prstGeom>
          <a:solidFill>
            <a:srgbClr val="1A2E40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</a:rPr>
              <a:t>② Fault Detection &amp; Failover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4813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/test every 5s → status = 'down'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CFDF"/>
                </a:solidFill>
              </a:rPr>
              <a:t>• Heartbeat check on all 3 nodes every 5s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CFDF"/>
                </a:solidFill>
              </a:rPr>
              <a:t>• Failed node flagged as DOWN instantly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CFDF"/>
                </a:solidFill>
              </a:rPr>
              <a:t>• New process spawned on port 6000+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CFDF"/>
                </a:solidFill>
              </a:rPr>
              <a:t>• Zero-downtime rerouting to healthy nodes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3154680"/>
            <a:ext cx="4206240" cy="1691640"/>
          </a:xfrm>
          <a:prstGeom prst="rect">
            <a:avLst/>
          </a:prstGeom>
          <a:solidFill>
            <a:srgbClr val="1A2E40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200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</a:rPr>
              <a:t>③ WebRTC Call State Machine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35844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 → outgoing/incoming → active → idle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393192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8CFDF"/>
                </a:solidFill>
              </a:rPr>
              <a:t>SDP offer → ICE candidates → P2P stream established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3154680"/>
            <a:ext cx="4206240" cy="1691640"/>
          </a:xfrm>
          <a:prstGeom prst="rect">
            <a:avLst/>
          </a:prstGeom>
          <a:solidFill>
            <a:srgbClr val="1A2E40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200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④ Key Results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58444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CFDF"/>
                </a:solidFill>
              </a:rPr>
              <a:t>✓ Real-time P2P audio/video calling works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CFDF"/>
                </a:solidFill>
              </a:rPr>
              <a:t>✓ Auto-failover restores service &lt; 5 seconds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CFDF"/>
                </a:solidFill>
              </a:rPr>
              <a:t>✓ Offline queue delivers messages on reconnect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CFDF"/>
                </a:solidFill>
              </a:rPr>
              <a:t>✓ Dashboard shows live load across all 3 nodes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Future Scope &amp; 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97280"/>
            <a:ext cx="4114800" cy="38404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972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CHALLENGES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455"/>
                </a:solidFill>
              </a:rPr>
              <a:t>• Single DB on Railway = single point of failure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455"/>
                </a:solidFill>
              </a:rPr>
              <a:t>• Plaintext passwords — no bcrypt hashing yet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455"/>
                </a:solidFill>
              </a:rPr>
              <a:t>• No TURN server — calls fail behind symmetric NAT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455"/>
                </a:solidFill>
              </a:rPr>
              <a:t>• Backup nodes not re-added to routing table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455"/>
                </a:solidFill>
              </a:rPr>
              <a:t>• Messages endpoint loads all history (no pagination)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455"/>
                </a:solidFill>
              </a:rPr>
              <a:t>• JWT-less auth via localStorage username (spoofable)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097280"/>
            <a:ext cx="4114800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972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🚀  FUTURE SCOPE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72768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455"/>
                </a:solidFill>
              </a:rPr>
              <a:t>→ Add bcrypt password hashing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455"/>
                </a:solidFill>
              </a:rPr>
              <a:t>→ Integrate TURN server (Twilio / Coturn)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455"/>
                </a:solidFill>
              </a:rPr>
              <a:t>→ Replace session with JWT authentication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455"/>
                </a:solidFill>
              </a:rPr>
              <a:t>→ Dynamic backup node re-registration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455"/>
                </a:solidFill>
              </a:rPr>
              <a:t>→ AES client-side encryption (real E2E)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455"/>
                </a:solidFill>
              </a:rPr>
              <a:t>→ MySQL replica + LIMIT/OFFSET pagination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3657600"/>
            <a:ext cx="8686800" cy="1325880"/>
          </a:xfrm>
          <a:prstGeom prst="rect">
            <a:avLst/>
          </a:prstGeom>
          <a:solidFill>
            <a:srgbClr val="0D1B2A"/>
          </a:solidFill>
          <a:ln w="19050">
            <a:solidFill>
              <a:srgbClr val="0A7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7033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4005072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B8CFDF"/>
                </a:solidFill>
              </a:rPr>
              <a:t>MeshChat successfully demonstrates horizontal scaling, fault tolerance, real-time P2P calling and offline messaging. The weighted load balancer and heartbeat failover work reliably. Future improvements around security, TURN relay and true E2E encryption will transform this proof-of-concept into a production-grade system.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13B5C7">
              <a:alpha val="10000"/>
            </a:srgbClr>
          </a:solidFill>
          <a:ln w="12700">
            <a:solidFill>
              <a:srgbClr val="13B5C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13B5C7">
              <a:alpha val="10000"/>
            </a:srgbClr>
          </a:solidFill>
          <a:ln w="12700">
            <a:solidFill>
              <a:srgbClr val="13B5C7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0A7E8C"/>
                </a:solidFill>
              </a:rPr>
              <a:t>PRESENTED BY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62179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3200400" y="1389888"/>
            <a:ext cx="2743200" cy="36576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45920"/>
            <a:ext cx="3931920" cy="1188720"/>
          </a:xfrm>
          <a:prstGeom prst="rect">
            <a:avLst/>
          </a:prstGeom>
          <a:solidFill>
            <a:srgbClr val="1A2E40"/>
          </a:solidFill>
          <a:ln w="25400">
            <a:solidFill>
              <a:srgbClr val="0A7E8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45920"/>
            <a:ext cx="91440" cy="11887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74520"/>
            <a:ext cx="731520" cy="731520"/>
          </a:xfrm>
          <a:prstGeom prst="ellipse">
            <a:avLst/>
          </a:prstGeom>
          <a:solidFill>
            <a:srgbClr val="0A7E8C">
              <a:alpha val="25000"/>
            </a:srgbClr>
          </a:solidFill>
          <a:ln w="19050">
            <a:solidFill>
              <a:srgbClr val="0A7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7E8C"/>
                </a:solidFill>
              </a:rPr>
              <a:t>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1732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Kartikeya Sharma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22677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7E8C"/>
                </a:solidFill>
              </a:rPr>
              <a:t>Roll No: A201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2560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8"/>
                </a:solidFill>
              </a:rPr>
              <a:t>MeshChat Project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645920"/>
            <a:ext cx="3931920" cy="1188720"/>
          </a:xfrm>
          <a:prstGeom prst="rect">
            <a:avLst/>
          </a:prstGeom>
          <a:solidFill>
            <a:srgbClr val="1A2E40"/>
          </a:solidFill>
          <a:ln w="25400">
            <a:solidFill>
              <a:srgbClr val="00C89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645920"/>
            <a:ext cx="91440" cy="1188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1874520"/>
            <a:ext cx="731520" cy="731520"/>
          </a:xfrm>
          <a:prstGeom prst="ellipse">
            <a:avLst/>
          </a:prstGeom>
          <a:solidFill>
            <a:srgbClr val="00C896">
              <a:alpha val="25000"/>
            </a:srgbClr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96"/>
                </a:solidFill>
              </a:rPr>
              <a:t>P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80644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Gupta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806440" y="22677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896"/>
                </a:solidFill>
              </a:rPr>
              <a:t>Roll No: A200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06440" y="2560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8"/>
                </a:solidFill>
              </a:rPr>
              <a:t>MeshChat Project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063240"/>
            <a:ext cx="3931920" cy="1188720"/>
          </a:xfrm>
          <a:prstGeom prst="rect">
            <a:avLst/>
          </a:prstGeom>
          <a:solidFill>
            <a:srgbClr val="1A2E40"/>
          </a:solidFill>
          <a:ln w="25400">
            <a:solidFill>
              <a:srgbClr val="00E5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063240"/>
            <a:ext cx="91440" cy="1188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291840"/>
            <a:ext cx="731520" cy="731520"/>
          </a:xfrm>
          <a:prstGeom prst="ellipse">
            <a:avLst/>
          </a:prstGeom>
          <a:solidFill>
            <a:srgbClr val="00E5FF">
              <a:alpha val="25000"/>
            </a:srgbClr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</a:rPr>
              <a:t>T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41732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Tanuj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17320" y="3685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FF"/>
                </a:solidFill>
              </a:rPr>
              <a:t>Roll No: A067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17320" y="3977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8"/>
                </a:solidFill>
              </a:rPr>
              <a:t>MeshChat Project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063240"/>
            <a:ext cx="3931920" cy="1188720"/>
          </a:xfrm>
          <a:prstGeom prst="rect">
            <a:avLst/>
          </a:prstGeom>
          <a:solidFill>
            <a:srgbClr val="1A2E40"/>
          </a:solidFill>
          <a:ln w="25400">
            <a:solidFill>
              <a:srgbClr val="FFD16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063240"/>
            <a:ext cx="91440" cy="1188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37760" y="3291840"/>
            <a:ext cx="731520" cy="731520"/>
          </a:xfrm>
          <a:prstGeom prst="ellipse">
            <a:avLst/>
          </a:prstGeom>
          <a:solidFill>
            <a:srgbClr val="FFD166">
              <a:alpha val="25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166"/>
                </a:solidFill>
              </a:rPr>
              <a:t>A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80644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Ashmit Kotiya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806440" y="3685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</a:rPr>
              <a:t>Roll No: A102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806440" y="3977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8"/>
                </a:solidFill>
              </a:rPr>
              <a:t>MeshChat Project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Computer Networks · April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MeshChat - Technical Presentation</dc:title>
  <dc:subject>PptxGenJS Presentation</dc:subject>
  <dc:creator>PptxGenJS</dc:creator>
  <cp:lastModifiedBy>PptxGenJS</cp:lastModifiedBy>
  <cp:revision>1</cp:revision>
  <dcterms:created xsi:type="dcterms:W3CDTF">2026-04-10T03:35:40Z</dcterms:created>
  <dcterms:modified xsi:type="dcterms:W3CDTF">2026-04-10T03:35:40Z</dcterms:modified>
</cp:coreProperties>
</file>